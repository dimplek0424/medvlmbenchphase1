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2918400" cy="3840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844991BA-3A73-467C-AC36-9BAC9F0005A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2096" userDrawn="1">
          <p15:clr>
            <a:srgbClr val="A4A3A4"/>
          </p15:clr>
        </p15:guide>
        <p15:guide id="2" pos="10368" userDrawn="1">
          <p15:clr>
            <a:srgbClr val="A4A3A4"/>
          </p15:clr>
        </p15:guide>
        <p15:guide id="3" orient="horz" pos="12216" userDrawn="1">
          <p15:clr>
            <a:srgbClr val="A4A3A4"/>
          </p15:clr>
        </p15:guide>
        <p15:guide id="4" orient="horz" pos="12296" userDrawn="1">
          <p15:clr>
            <a:srgbClr val="A4A3A4"/>
          </p15:clr>
        </p15:guide>
        <p15:guide id="5" pos="104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3" d="100"/>
          <a:sy n="13" d="100"/>
        </p:scale>
        <p:origin x="2460" y="120"/>
      </p:cViewPr>
      <p:guideLst>
        <p:guide orient="horz" pos="12096"/>
        <p:guide pos="10368"/>
        <p:guide orient="horz" pos="12216"/>
        <p:guide orient="horz" pos="12296"/>
        <p:guide pos="104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285233"/>
            <a:ext cx="27980640" cy="1337056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0171413"/>
            <a:ext cx="24688800" cy="927226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18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9574541"/>
            <a:ext cx="28392120" cy="1597532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5701001"/>
            <a:ext cx="28392120" cy="840104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0223500"/>
            <a:ext cx="1399032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0223500"/>
            <a:ext cx="1399032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044708"/>
            <a:ext cx="28392120" cy="74231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9414513"/>
            <a:ext cx="13926024" cy="461390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4028420"/>
            <a:ext cx="13926024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9414513"/>
            <a:ext cx="13994608" cy="461390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4028420"/>
            <a:ext cx="13994608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22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63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560320"/>
            <a:ext cx="10617041" cy="89611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5529588"/>
            <a:ext cx="16664940" cy="272923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1521440"/>
            <a:ext cx="10617041" cy="2134489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1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560320"/>
            <a:ext cx="10617041" cy="89611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5529588"/>
            <a:ext cx="16664940" cy="272923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1521440"/>
            <a:ext cx="10617041" cy="2134489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1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4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044700"/>
            <a:ext cx="7098030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044700"/>
            <a:ext cx="20882610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8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044708"/>
            <a:ext cx="2839212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0223500"/>
            <a:ext cx="28392120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35595568"/>
            <a:ext cx="74066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36948-0F7F-4A4B-92C9-C750CCAC9F2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35595568"/>
            <a:ext cx="1110996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35595568"/>
            <a:ext cx="740664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5525C-42C2-4460-9EB4-9F80247B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9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yellow shield with a black and yellow checkered pattern&#10;&#10;AI-generated content may be incorrect.">
            <a:extLst>
              <a:ext uri="{FF2B5EF4-FFF2-40B4-BE49-F238E27FC236}">
                <a16:creationId xmlns:a16="http://schemas.microsoft.com/office/drawing/2014/main" id="{40317C22-1457-3660-FB5B-CB39E9486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67" y="443345"/>
            <a:ext cx="2576950" cy="3620327"/>
          </a:xfrm>
          <a:prstGeom prst="rect">
            <a:avLst/>
          </a:prstGeom>
        </p:spPr>
      </p:pic>
      <p:pic>
        <p:nvPicPr>
          <p:cNvPr id="9" name="Picture 8" descr="A red and black sign with black text&#10;&#10;AI-generated content may be incorrect.">
            <a:extLst>
              <a:ext uri="{FF2B5EF4-FFF2-40B4-BE49-F238E27FC236}">
                <a16:creationId xmlns:a16="http://schemas.microsoft.com/office/drawing/2014/main" id="{C146941E-408D-EAA9-4C48-B3E1584D3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9163" y="1261652"/>
            <a:ext cx="2299855" cy="2034886"/>
          </a:xfrm>
          <a:prstGeom prst="rect">
            <a:avLst/>
          </a:prstGeom>
        </p:spPr>
      </p:pic>
      <p:pic>
        <p:nvPicPr>
          <p:cNvPr id="11" name="Picture 10" descr="A logo with a flower in a bowl&#10;&#10;AI-generated content may be incorrect.">
            <a:extLst>
              <a:ext uri="{FF2B5EF4-FFF2-40B4-BE49-F238E27FC236}">
                <a16:creationId xmlns:a16="http://schemas.microsoft.com/office/drawing/2014/main" id="{14E47921-A0DA-C05D-B322-43395779E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9091" y="0"/>
            <a:ext cx="6123709" cy="4306529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2CD8FC12-EBBD-0813-FE11-A47E50773D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3404" y="10149760"/>
            <a:ext cx="288173" cy="152984"/>
          </a:xfrm>
          <a:prstGeom prst="rect">
            <a:avLst/>
          </a:prstGeom>
        </p:spPr>
      </p:pic>
      <p:pic>
        <p:nvPicPr>
          <p:cNvPr id="17" name="Picture 16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50A96EC5-C060-904A-422C-E24BCC91EA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381" y="1261652"/>
            <a:ext cx="2299855" cy="20348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F48C583-76DD-50DA-E13A-AC898480362C}"/>
              </a:ext>
            </a:extLst>
          </p:cNvPr>
          <p:cNvSpPr txBox="1"/>
          <p:nvPr/>
        </p:nvSpPr>
        <p:spPr>
          <a:xfrm>
            <a:off x="6858000" y="924351"/>
            <a:ext cx="193340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Towards Comprehensive Benchmarking of Medical Vision Language Models </a:t>
            </a:r>
            <a:endParaRPr lang="en-US" sz="6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D49FB6-591C-62A0-B97E-966B6974ABCC}"/>
              </a:ext>
            </a:extLst>
          </p:cNvPr>
          <p:cNvSpPr txBox="1"/>
          <p:nvPr/>
        </p:nvSpPr>
        <p:spPr>
          <a:xfrm>
            <a:off x="6726381" y="2863343"/>
            <a:ext cx="19299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Dimple Khatri¹, Sanjan TP Gupta² </a:t>
            </a:r>
          </a:p>
          <a:p>
            <a:pPr algn="ctr"/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¹ University of Maryland Baltimore County, USA, ² Indian Institute of Technology Madras, India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2E48F6-F6FC-2B13-29ED-9CD474774513}"/>
              </a:ext>
            </a:extLst>
          </p:cNvPr>
          <p:cNvSpPr txBox="1"/>
          <p:nvPr/>
        </p:nvSpPr>
        <p:spPr>
          <a:xfrm>
            <a:off x="921774" y="4564626"/>
            <a:ext cx="10058400" cy="4661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Background &amp; Motivation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Severe global radiologist shortage: India has 1 radiologist per 100,000 people, with even fewer in Tier-2/3 and rural regions.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reports complete absence of radiologists in parts of Africa, requiring tele-radiology for all interpretation.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developed countries (UK, Japan, Singapore) face scan backlogs and radiologist fatigue, impacting diagnostic turnaround time.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AI-assisted interpretation supports rapid triage, generates EHR-ready summaries, and improves diagnostic consistency.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6559E58-EB15-C35D-51AE-90CF9A48E4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18" y="9157732"/>
            <a:ext cx="9989132" cy="379135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33F2665-0206-01A4-5BFD-133E1A40CF3C}"/>
              </a:ext>
            </a:extLst>
          </p:cNvPr>
          <p:cNvSpPr txBox="1"/>
          <p:nvPr/>
        </p:nvSpPr>
        <p:spPr>
          <a:xfrm>
            <a:off x="1214485" y="13015603"/>
            <a:ext cx="9463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Figure-1: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major medical imaging modalities, ranging from 2D grayscale X-rays to 3D CT/MRI volumes, PET functional scans, and real-time Ultrasound. These modalities differ in dimensionality, noise characteristics, and clinical use, motivating tailored AI approaches and the choice of X-rays as the starting point for Medical VLM benchmarking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58A433-BC29-B306-442E-7D9D1B24546A}"/>
              </a:ext>
            </a:extLst>
          </p:cNvPr>
          <p:cNvSpPr txBox="1"/>
          <p:nvPr/>
        </p:nvSpPr>
        <p:spPr>
          <a:xfrm>
            <a:off x="968309" y="14312055"/>
            <a:ext cx="10043160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Objective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 a Phase-1 reproducible baseline for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the IU-CXR dataset, focusing on zero-shot image understanding.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how image preprocessing variants (RAW →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preprocessing, CLAHE,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Gaussian+CLAHE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affect interpretability and inference latency.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core classification tasks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Identification: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whether an X-ray is Frontal or Lateral.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Multi-Label Disease Detection: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all diseases present in an image, allowing multiple findings per X-ray.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Single-Label Disease Classification: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stratified dataset with exactly one dominant pathology per image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measure strict diagnostic accuracy.</a:t>
            </a:r>
            <a:endParaRPr lang="en-US" sz="2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Multimodal retrieval and report summarization from the full </a:t>
            </a:r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MedVLM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benchmarking framework will be introduced in Phase-2.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A0C64D-DD6B-A09C-DB34-5A839E9B7A98}"/>
              </a:ext>
            </a:extLst>
          </p:cNvPr>
          <p:cNvSpPr txBox="1"/>
          <p:nvPr/>
        </p:nvSpPr>
        <p:spPr>
          <a:xfrm>
            <a:off x="914400" y="21412200"/>
            <a:ext cx="10033000" cy="1449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Datasets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IU-CXR (Indiana University Chest X-ray Dataset):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dataset of paired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chest X-ray images and radiology reports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all Phase-1 experiments in this study.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 Characteristics: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 grayscale chest radiographs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Mixture of Frontal and Lateral views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diverse pathologies and normal cases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PNGs provided in varying resolutions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Label Sources Used: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labels: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Derived from IU-CXR metadata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Disease labels: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Extracted using </a:t>
            </a:r>
            <a:r>
              <a:rPr lang="en-US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CheXpert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-style keyword rules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 Stratified Subset: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Constructed to evaluate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single-label disease classification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image assigned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dominant pathology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strict evaluation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Balances class distribution for fair comparison across diseases</a:t>
            </a:r>
          </a:p>
        </p:txBody>
      </p:sp>
      <p:pic>
        <p:nvPicPr>
          <p:cNvPr id="36" name="Picture 35" descr="A graph of a number of people">
            <a:extLst>
              <a:ext uri="{FF2B5EF4-FFF2-40B4-BE49-F238E27FC236}">
                <a16:creationId xmlns:a16="http://schemas.microsoft.com/office/drawing/2014/main" id="{E260608E-30CD-48DD-B478-77CDD94084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26" y="22024169"/>
            <a:ext cx="9587478" cy="515664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307323F-0930-7CBD-75DE-12A6085E34C7}"/>
              </a:ext>
            </a:extLst>
          </p:cNvPr>
          <p:cNvSpPr txBox="1"/>
          <p:nvPr/>
        </p:nvSpPr>
        <p:spPr>
          <a:xfrm>
            <a:off x="3701520" y="27210079"/>
            <a:ext cx="442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Figure-2: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Top-20 pathology histogram</a:t>
            </a:r>
          </a:p>
        </p:txBody>
      </p:sp>
      <p:pic>
        <p:nvPicPr>
          <p:cNvPr id="40" name="Picture 39" descr="A x-ray of a chest&#10;&#10;AI-generated content may be incorrect.">
            <a:extLst>
              <a:ext uri="{FF2B5EF4-FFF2-40B4-BE49-F238E27FC236}">
                <a16:creationId xmlns:a16="http://schemas.microsoft.com/office/drawing/2014/main" id="{F1359D0F-ED81-16C9-6E3F-CD023A7700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8992" y="27531694"/>
            <a:ext cx="9613232" cy="329563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9BBDF00-ADE0-9B91-2F34-50B2046BBE8E}"/>
              </a:ext>
            </a:extLst>
          </p:cNvPr>
          <p:cNvSpPr txBox="1"/>
          <p:nvPr/>
        </p:nvSpPr>
        <p:spPr>
          <a:xfrm flipH="1">
            <a:off x="12206081" y="30771818"/>
            <a:ext cx="9541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Figure-4: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comparison of three preprocessing variants evaluated in Phase-1: RAW (labeled “Normalized”), CLAHE-enhanced, and Gaussian Denoise + CLAHE. These variants are used only for experimental analysis; </a:t>
            </a:r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MedCLIP’s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internal code still performs its default resizing and normalization during inference.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2" name="Picture 4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FFD49B-7461-EB26-4725-9BC136CC6C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80545" y="7989317"/>
            <a:ext cx="4601217" cy="480127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55CD60B-ADFA-855F-063A-E40C95D8B027}"/>
              </a:ext>
            </a:extLst>
          </p:cNvPr>
          <p:cNvSpPr txBox="1"/>
          <p:nvPr/>
        </p:nvSpPr>
        <p:spPr>
          <a:xfrm>
            <a:off x="11901377" y="4589190"/>
            <a:ext cx="10051310" cy="2308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Methodology </a:t>
            </a:r>
          </a:p>
          <a:p>
            <a:pPr>
              <a:buNone/>
            </a:pPr>
            <a:endParaRPr lang="en-US" b="1" dirty="0"/>
          </a:p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4.1 Model Architecture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Vision Encoder – Swin Transformer: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a hierarchical Swin Transformer backbone that computes self-attention </a:t>
            </a: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 local windows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enabling efficient scaling to high-resolution medical images.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8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Figure-3: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Swin vs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figure here; shows local window attention and hierarchical feature maps.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Text Encoder – </a:t>
            </a:r>
            <a:r>
              <a:rPr lang="en-US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BioClinicalBERT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domain-tuned language model trained on clinical notes and radiology reports, providing medically grounded text embeddings.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Alternate Vision Backbone – ResNet-50: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comparative experiments to evaluate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MedCLIPVisionModel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performance differences.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Activation Function – GELU: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Smoother and more stable than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standard in transformer-based architectures.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4.2 Zero-Shot Evaluation Pipeline</a:t>
            </a:r>
          </a:p>
          <a:p>
            <a:pPr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 RAW X-ray images into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2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MedCLIP’s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internal image pipeline automatically performs:</a:t>
            </a:r>
          </a:p>
          <a:p>
            <a:pPr lvl="3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Loading &amp; resizing</a:t>
            </a:r>
          </a:p>
          <a:p>
            <a:pPr lvl="3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 cropping</a:t>
            </a:r>
          </a:p>
          <a:p>
            <a:pPr lvl="3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Normalization to pretrained mean/std</a:t>
            </a:r>
          </a:p>
          <a:p>
            <a:pPr lvl="3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 conversion</a:t>
            </a:r>
          </a:p>
          <a:p>
            <a:pPr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Images and prompts (e.g., “Frontal view”, “Lateral view”, “Cardiomegaly”) are encoded into a shared contrastive space.</a:t>
            </a:r>
          </a:p>
          <a:p>
            <a:pPr lvl="2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is computed through prompt similarity ranking or a 0.5 threshold for multi-label detection.</a:t>
            </a:r>
          </a:p>
          <a:p>
            <a:pPr lvl="2" indent="-285750"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4.3 Preprocessing Variants (External to </a:t>
            </a:r>
            <a:r>
              <a:rPr lang="en-US" sz="3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study interpretability and latency, three input variants were evaluated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MedCLIP’s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internal preprocessing: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(labeled “Normalized” in figure; no external enhancement)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28750" lvl="2" indent="-514350"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CLAHE-enhanced RAW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(contrast improvement)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 Denoise + CLAHE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(noise reduction + contrast)</a:t>
            </a:r>
          </a:p>
          <a:p>
            <a:pPr lvl="1"/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still applies its default preprocessing after these variants are passed into the model.</a:t>
            </a:r>
          </a:p>
        </p:txBody>
      </p:sp>
      <p:pic>
        <p:nvPicPr>
          <p:cNvPr id="46" name="Picture 45" descr="A qr code with a logo&#10;&#10;AI-generated content may be incorrect.">
            <a:extLst>
              <a:ext uri="{FF2B5EF4-FFF2-40B4-BE49-F238E27FC236}">
                <a16:creationId xmlns:a16="http://schemas.microsoft.com/office/drawing/2014/main" id="{1AAEEF6C-9C60-294C-0E92-E653DD96D5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426" y="36014047"/>
            <a:ext cx="2039212" cy="203921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A0D43A3-B878-7E4A-2817-A70D85090312}"/>
              </a:ext>
            </a:extLst>
          </p:cNvPr>
          <p:cNvSpPr txBox="1"/>
          <p:nvPr/>
        </p:nvSpPr>
        <p:spPr>
          <a:xfrm>
            <a:off x="3685944" y="35949596"/>
            <a:ext cx="4287386" cy="2145268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Scan Here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connect on LinkedIn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Codebase Link Scan Here </a:t>
            </a:r>
          </a:p>
          <a:p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to research opportunities and collaborations</a:t>
            </a: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722A54F8-A54B-5EA5-25F5-AF00DA0204F2}"/>
              </a:ext>
            </a:extLst>
          </p:cNvPr>
          <p:cNvSpPr/>
          <p:nvPr/>
        </p:nvSpPr>
        <p:spPr>
          <a:xfrm>
            <a:off x="7680429" y="36690763"/>
            <a:ext cx="68428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Left 52">
            <a:extLst>
              <a:ext uri="{FF2B5EF4-FFF2-40B4-BE49-F238E27FC236}">
                <a16:creationId xmlns:a16="http://schemas.microsoft.com/office/drawing/2014/main" id="{FA6B2804-230D-B3DE-F590-518B8EAFF12F}"/>
              </a:ext>
            </a:extLst>
          </p:cNvPr>
          <p:cNvSpPr/>
          <p:nvPr/>
        </p:nvSpPr>
        <p:spPr>
          <a:xfrm>
            <a:off x="3270040" y="36109716"/>
            <a:ext cx="666119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A qr code with a cat logo">
            <a:extLst>
              <a:ext uri="{FF2B5EF4-FFF2-40B4-BE49-F238E27FC236}">
                <a16:creationId xmlns:a16="http://schemas.microsoft.com/office/drawing/2014/main" id="{98B39839-0550-0BAB-54EE-8A5AF9E8E2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300" y="35958287"/>
            <a:ext cx="2276918" cy="218982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0380F9A8-02DD-3EB4-F42A-4D36498E56FA}"/>
              </a:ext>
            </a:extLst>
          </p:cNvPr>
          <p:cNvSpPr txBox="1"/>
          <p:nvPr/>
        </p:nvSpPr>
        <p:spPr>
          <a:xfrm>
            <a:off x="22848711" y="4696177"/>
            <a:ext cx="9170529" cy="334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Experiments &amp; Results</a:t>
            </a:r>
          </a:p>
          <a:p>
            <a:pPr>
              <a:buNone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5.1 View Classification (Frontal vs Lateral)</a:t>
            </a: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Result: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~52% accuracy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view identification.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significant latency difference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RAW, CLAHE,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Gaussian+CLAHE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variants.</a:t>
            </a:r>
          </a:p>
          <a:p>
            <a:pPr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often flips Frontal → Lateral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rarely the reverse.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Indicates weak global shape reasoning in zero-shot mode.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Visual enhancement steps do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 computational burden on CPU.</a:t>
            </a:r>
          </a:p>
          <a:p>
            <a:pPr>
              <a:buNone/>
            </a:pPr>
            <a:endParaRPr lang="en-US" sz="2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5.2 Multi-Label Disease Detection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Result: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shows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ranking ability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(AUROC ↑), but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specificity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(many false positives).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Metrics: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= 1.00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(no disease missed),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 = 0.69–0.85,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= 0.82–0.92</a:t>
            </a:r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5.3 Single-Label Disease Classification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Result: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performs well on frequent diseases (e.g., Effusion) but poorly on rare long-tail categories.</a:t>
            </a:r>
          </a:p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Interpretation: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 imbalance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zero-shot limitations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fine-grained diagnosis.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5.4 Forced Single-Label Classification for 6-Class</a:t>
            </a:r>
            <a:b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mapping multi-label disease predictions → 6 exclusive classes (CheXpert-5 + Others):</a:t>
            </a:r>
          </a:p>
          <a:p>
            <a:pPr lvl="1" fontAlgn="base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~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41%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fontAlgn="base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 confusion in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class (not modeled by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task–model misalignment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model failure.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Conclusions</a:t>
            </a:r>
          </a:p>
          <a:p>
            <a:pPr fontAlgn="base"/>
            <a:endParaRPr lang="en-US" dirty="0"/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at ranking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disease likelihoods (AUROC↑).</a:t>
            </a: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Threshold-based classification is weak due to over-triggering (recall↑, specificity↓).</a:t>
            </a: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 classification reveals challenge in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recognizing anatomical geometry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Strict single-label experiment highlights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fine-grained limitations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zero-shot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MedCLIP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9" name="Picture 58" descr="A blue and white squares with text&#10;&#10;AI-generated content may be incorrect.">
            <a:extLst>
              <a:ext uri="{FF2B5EF4-FFF2-40B4-BE49-F238E27FC236}">
                <a16:creationId xmlns:a16="http://schemas.microsoft.com/office/drawing/2014/main" id="{2C5C0729-6135-6205-E6B4-CA9A93C284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4421" y="6238312"/>
            <a:ext cx="4321354" cy="3108888"/>
          </a:xfrm>
          <a:prstGeom prst="rect">
            <a:avLst/>
          </a:prstGeom>
        </p:spPr>
      </p:pic>
      <p:pic>
        <p:nvPicPr>
          <p:cNvPr id="61" name="Picture 60" descr="A diagram of a number of boxes">
            <a:extLst>
              <a:ext uri="{FF2B5EF4-FFF2-40B4-BE49-F238E27FC236}">
                <a16:creationId xmlns:a16="http://schemas.microsoft.com/office/drawing/2014/main" id="{DD34BBB0-8D39-84CD-919F-F4A64F6418F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6758" y="6265332"/>
            <a:ext cx="4768754" cy="31931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FE0C621-263D-9FF4-12BA-0DD85A1CB9BC}"/>
              </a:ext>
            </a:extLst>
          </p:cNvPr>
          <p:cNvSpPr txBox="1"/>
          <p:nvPr/>
        </p:nvSpPr>
        <p:spPr>
          <a:xfrm>
            <a:off x="27740610" y="9418320"/>
            <a:ext cx="4431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Figure-6: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Inference latency boxplot for three preprocessing variants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15BFE4-AF7B-D46C-D6FF-16ED6690FB57}"/>
              </a:ext>
            </a:extLst>
          </p:cNvPr>
          <p:cNvSpPr txBox="1"/>
          <p:nvPr/>
        </p:nvSpPr>
        <p:spPr>
          <a:xfrm>
            <a:off x="23004781" y="9372600"/>
            <a:ext cx="4434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Figure-5: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View classification confusion matrix (Frontal vs Lateral).</a:t>
            </a:r>
          </a:p>
          <a:p>
            <a:endParaRPr lang="en-US" dirty="0"/>
          </a:p>
        </p:txBody>
      </p:sp>
      <p:pic>
        <p:nvPicPr>
          <p:cNvPr id="66" name="Picture 65" descr="A diagram of a graph">
            <a:extLst>
              <a:ext uri="{FF2B5EF4-FFF2-40B4-BE49-F238E27FC236}">
                <a16:creationId xmlns:a16="http://schemas.microsoft.com/office/drawing/2014/main" id="{D5BD0D31-92E2-4976-1A7C-94644BD1E7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9824" y="22468431"/>
            <a:ext cx="5034448" cy="4307266"/>
          </a:xfrm>
          <a:prstGeom prst="rect">
            <a:avLst/>
          </a:prstGeom>
        </p:spPr>
      </p:pic>
      <p:pic>
        <p:nvPicPr>
          <p:cNvPr id="68" name="Picture 67" descr="A graph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FC721302-2241-8B6F-12B2-F34734A6A64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0316" y="22481211"/>
            <a:ext cx="4129548" cy="4164843"/>
          </a:xfrm>
          <a:prstGeom prst="rect">
            <a:avLst/>
          </a:prstGeom>
        </p:spPr>
      </p:pic>
      <p:pic>
        <p:nvPicPr>
          <p:cNvPr id="70" name="Picture 69" descr="A graph of a number of green squares">
            <a:extLst>
              <a:ext uri="{FF2B5EF4-FFF2-40B4-BE49-F238E27FC236}">
                <a16:creationId xmlns:a16="http://schemas.microsoft.com/office/drawing/2014/main" id="{1F66444E-2C27-EC89-2D0F-D2D25317EFC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5954" y="14778710"/>
            <a:ext cx="5309665" cy="3789509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63B3A6DB-697B-B76D-0745-3D9DB4A3CE46}"/>
              </a:ext>
            </a:extLst>
          </p:cNvPr>
          <p:cNvSpPr txBox="1"/>
          <p:nvPr/>
        </p:nvSpPr>
        <p:spPr>
          <a:xfrm>
            <a:off x="24197187" y="18643436"/>
            <a:ext cx="666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Figure-7: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Any-disease confusion matrices (zero-shot threshold = 0.5)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F50AEA1-CC7F-79E2-EBD1-07722A0E6E67}"/>
              </a:ext>
            </a:extLst>
          </p:cNvPr>
          <p:cNvSpPr txBox="1"/>
          <p:nvPr/>
        </p:nvSpPr>
        <p:spPr>
          <a:xfrm>
            <a:off x="27410369" y="26746200"/>
            <a:ext cx="467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Figure-9: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Strict single-label disease classification confusion matrix. [Exp. 5.3]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ADFA2C-01ED-2E4F-CB87-5C418A949C90}"/>
              </a:ext>
            </a:extLst>
          </p:cNvPr>
          <p:cNvSpPr txBox="1"/>
          <p:nvPr/>
        </p:nvSpPr>
        <p:spPr>
          <a:xfrm>
            <a:off x="23075449" y="26753574"/>
            <a:ext cx="4499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Figure-8: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6-class confusion matrix [Exp. 5.4]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778116-2BE2-CBB3-1A73-E926991D6B99}"/>
              </a:ext>
            </a:extLst>
          </p:cNvPr>
          <p:cNvSpPr txBox="1"/>
          <p:nvPr/>
        </p:nvSpPr>
        <p:spPr>
          <a:xfrm>
            <a:off x="11970327" y="32170253"/>
            <a:ext cx="9923318" cy="5724644"/>
          </a:xfrm>
          <a:custGeom>
            <a:avLst/>
            <a:gdLst>
              <a:gd name="connsiteX0" fmla="*/ 0 w 9466119"/>
              <a:gd name="connsiteY0" fmla="*/ 0 h 6978848"/>
              <a:gd name="connsiteX1" fmla="*/ 9466119 w 9466119"/>
              <a:gd name="connsiteY1" fmla="*/ 0 h 6978848"/>
              <a:gd name="connsiteX2" fmla="*/ 9466119 w 9466119"/>
              <a:gd name="connsiteY2" fmla="*/ 5815683 h 6978848"/>
              <a:gd name="connsiteX3" fmla="*/ 8302954 w 9466119"/>
              <a:gd name="connsiteY3" fmla="*/ 6978848 h 6978848"/>
              <a:gd name="connsiteX4" fmla="*/ 0 w 9466119"/>
              <a:gd name="connsiteY4" fmla="*/ 6978848 h 6978848"/>
              <a:gd name="connsiteX5" fmla="*/ 0 w 9466119"/>
              <a:gd name="connsiteY5" fmla="*/ 0 h 6978848"/>
              <a:gd name="connsiteX0" fmla="*/ 8302954 w 9466119"/>
              <a:gd name="connsiteY0" fmla="*/ 6978848 h 6978848"/>
              <a:gd name="connsiteX1" fmla="*/ 8535587 w 9466119"/>
              <a:gd name="connsiteY1" fmla="*/ 6048316 h 6978848"/>
              <a:gd name="connsiteX2" fmla="*/ 9466119 w 9466119"/>
              <a:gd name="connsiteY2" fmla="*/ 5815683 h 6978848"/>
              <a:gd name="connsiteX3" fmla="*/ 8302954 w 9466119"/>
              <a:gd name="connsiteY3" fmla="*/ 6978848 h 6978848"/>
              <a:gd name="connsiteX0" fmla="*/ 8302954 w 9466119"/>
              <a:gd name="connsiteY0" fmla="*/ 6978848 h 6978848"/>
              <a:gd name="connsiteX1" fmla="*/ 8535587 w 9466119"/>
              <a:gd name="connsiteY1" fmla="*/ 6048316 h 6978848"/>
              <a:gd name="connsiteX2" fmla="*/ 9466119 w 9466119"/>
              <a:gd name="connsiteY2" fmla="*/ 5815683 h 6978848"/>
              <a:gd name="connsiteX3" fmla="*/ 8302954 w 9466119"/>
              <a:gd name="connsiteY3" fmla="*/ 6978848 h 6978848"/>
              <a:gd name="connsiteX4" fmla="*/ 0 w 9466119"/>
              <a:gd name="connsiteY4" fmla="*/ 6978848 h 6978848"/>
              <a:gd name="connsiteX5" fmla="*/ 0 w 9466119"/>
              <a:gd name="connsiteY5" fmla="*/ 0 h 6978848"/>
              <a:gd name="connsiteX6" fmla="*/ 9466119 w 9466119"/>
              <a:gd name="connsiteY6" fmla="*/ 0 h 6978848"/>
              <a:gd name="connsiteX7" fmla="*/ 9466119 w 9466119"/>
              <a:gd name="connsiteY7" fmla="*/ 5815683 h 6978848"/>
              <a:gd name="connsiteX0" fmla="*/ 0 w 9466119"/>
              <a:gd name="connsiteY0" fmla="*/ 0 h 6978848"/>
              <a:gd name="connsiteX1" fmla="*/ 9466119 w 9466119"/>
              <a:gd name="connsiteY1" fmla="*/ 0 h 6978848"/>
              <a:gd name="connsiteX2" fmla="*/ 9466119 w 9466119"/>
              <a:gd name="connsiteY2" fmla="*/ 5815683 h 6978848"/>
              <a:gd name="connsiteX3" fmla="*/ 8302954 w 9466119"/>
              <a:gd name="connsiteY3" fmla="*/ 6978848 h 6978848"/>
              <a:gd name="connsiteX4" fmla="*/ 0 w 9466119"/>
              <a:gd name="connsiteY4" fmla="*/ 6978848 h 6978848"/>
              <a:gd name="connsiteX5" fmla="*/ 0 w 9466119"/>
              <a:gd name="connsiteY5" fmla="*/ 0 h 6978848"/>
              <a:gd name="connsiteX0" fmla="*/ 8302954 w 9466119"/>
              <a:gd name="connsiteY0" fmla="*/ 6978848 h 6978848"/>
              <a:gd name="connsiteX1" fmla="*/ 8535587 w 9466119"/>
              <a:gd name="connsiteY1" fmla="*/ 6048316 h 6978848"/>
              <a:gd name="connsiteX2" fmla="*/ 9466119 w 9466119"/>
              <a:gd name="connsiteY2" fmla="*/ 5815683 h 6978848"/>
              <a:gd name="connsiteX3" fmla="*/ 8302954 w 9466119"/>
              <a:gd name="connsiteY3" fmla="*/ 6978848 h 6978848"/>
              <a:gd name="connsiteX0" fmla="*/ 8302954 w 9466119"/>
              <a:gd name="connsiteY0" fmla="*/ 6978848 h 6978848"/>
              <a:gd name="connsiteX1" fmla="*/ 8535587 w 9466119"/>
              <a:gd name="connsiteY1" fmla="*/ 6048316 h 6978848"/>
              <a:gd name="connsiteX2" fmla="*/ 9466119 w 9466119"/>
              <a:gd name="connsiteY2" fmla="*/ 5815683 h 6978848"/>
              <a:gd name="connsiteX3" fmla="*/ 8302954 w 9466119"/>
              <a:gd name="connsiteY3" fmla="*/ 6978848 h 6978848"/>
              <a:gd name="connsiteX4" fmla="*/ 0 w 9466119"/>
              <a:gd name="connsiteY4" fmla="*/ 6978848 h 6978848"/>
              <a:gd name="connsiteX5" fmla="*/ 0 w 9466119"/>
              <a:gd name="connsiteY5" fmla="*/ 0 h 6978848"/>
              <a:gd name="connsiteX6" fmla="*/ 9466119 w 9466119"/>
              <a:gd name="connsiteY6" fmla="*/ 0 h 6978848"/>
              <a:gd name="connsiteX7" fmla="*/ 9237519 w 9466119"/>
              <a:gd name="connsiteY7" fmla="*/ 5514347 h 697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6119" h="6978848" stroke="0" extrusionOk="0">
                <a:moveTo>
                  <a:pt x="0" y="0"/>
                </a:moveTo>
                <a:lnTo>
                  <a:pt x="9466119" y="0"/>
                </a:lnTo>
                <a:lnTo>
                  <a:pt x="9466119" y="5815683"/>
                </a:lnTo>
                <a:lnTo>
                  <a:pt x="8302954" y="6978848"/>
                </a:lnTo>
                <a:lnTo>
                  <a:pt x="0" y="6978848"/>
                </a:lnTo>
                <a:lnTo>
                  <a:pt x="0" y="0"/>
                </a:lnTo>
                <a:close/>
              </a:path>
              <a:path w="9466119" h="6978848" fill="darkenLess" stroke="0" extrusionOk="0">
                <a:moveTo>
                  <a:pt x="8302954" y="6978848"/>
                </a:moveTo>
                <a:lnTo>
                  <a:pt x="8535587" y="6048316"/>
                </a:lnTo>
                <a:lnTo>
                  <a:pt x="9466119" y="5815683"/>
                </a:lnTo>
                <a:lnTo>
                  <a:pt x="8302954" y="6978848"/>
                </a:lnTo>
                <a:close/>
              </a:path>
              <a:path w="9466119" h="6978848" fill="none" extrusionOk="0">
                <a:moveTo>
                  <a:pt x="8302954" y="6978848"/>
                </a:moveTo>
                <a:lnTo>
                  <a:pt x="8535587" y="6048316"/>
                </a:lnTo>
                <a:lnTo>
                  <a:pt x="9466119" y="5815683"/>
                </a:lnTo>
                <a:lnTo>
                  <a:pt x="8302954" y="6978848"/>
                </a:lnTo>
                <a:lnTo>
                  <a:pt x="0" y="6978848"/>
                </a:lnTo>
                <a:lnTo>
                  <a:pt x="0" y="0"/>
                </a:lnTo>
                <a:lnTo>
                  <a:pt x="9466119" y="0"/>
                </a:lnTo>
                <a:cubicBezTo>
                  <a:pt x="9466119" y="1938561"/>
                  <a:pt x="9237519" y="3575786"/>
                  <a:pt x="9237519" y="5514347"/>
                </a:cubicBezTo>
              </a:path>
            </a:pathLst>
          </a:custGeom>
          <a:gradFill>
            <a:gsLst>
              <a:gs pos="10000">
                <a:schemeClr val="accent4">
                  <a:lumMod val="110000"/>
                  <a:satMod val="105000"/>
                  <a:tint val="67000"/>
                </a:schemeClr>
              </a:gs>
              <a:gs pos="50000">
                <a:schemeClr val="accent4">
                  <a:lumMod val="105000"/>
                  <a:satMod val="103000"/>
                  <a:tint val="73000"/>
                </a:schemeClr>
              </a:gs>
              <a:gs pos="100000">
                <a:schemeClr val="accent4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Works: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benchmarking to additional modalities and multi-center datasets to evaluate generalization beyond IU-CXR.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full multimodal tasks such as retrieval, report summarization, and structured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RadGraph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grounding.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trustworthiness through calibration, rare-pathology performance, and robustness to perturbations.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efficiency techniques (quantization,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qLoRA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adapters) to balance accuracy with latency and memory use.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benchmarking experiments  to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CT, MRI, ophthalmology datasets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907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1893</TotalTime>
  <Words>1119</Words>
  <Application>Microsoft Office PowerPoint</Application>
  <PresentationFormat>Custom</PresentationFormat>
  <Paragraphs>162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Dimple Khatri</dc:creator>
  <cp:lastModifiedBy>Dimple Khatri</cp:lastModifiedBy>
  <cp:revision>1</cp:revision>
  <dcterms:created xsi:type="dcterms:W3CDTF">2025-12-08T10:10:02Z</dcterms:created>
  <dcterms:modified xsi:type="dcterms:W3CDTF">2025-12-09T17:43:20Z</dcterms:modified>
</cp:coreProperties>
</file>